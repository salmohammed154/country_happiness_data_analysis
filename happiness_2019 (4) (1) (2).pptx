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76" r:id="rId5"/>
    <p:sldId id="273" r:id="rId6"/>
    <p:sldId id="272" r:id="rId7"/>
    <p:sldId id="274" r:id="rId8"/>
    <p:sldId id="275" r:id="rId9"/>
    <p:sldId id="277" r:id="rId10"/>
    <p:sldId id="267" r:id="rId11"/>
    <p:sldId id="269" r:id="rId12"/>
    <p:sldId id="258" r:id="rId13"/>
    <p:sldId id="259" r:id="rId14"/>
    <p:sldId id="260" r:id="rId15"/>
    <p:sldId id="261" r:id="rId16"/>
    <p:sldId id="262" r:id="rId17"/>
    <p:sldId id="266" r:id="rId18"/>
    <p:sldId id="270" r:id="rId19"/>
    <p:sldId id="271" r:id="rId20"/>
    <p:sldId id="263" r:id="rId21"/>
    <p:sldId id="26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22:31:33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22:32:02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358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8E64F-1B01-561E-5C53-947ACBDF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C0E03-C111-90B8-F298-080F4D3A2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11C1F-2B59-FB71-A4AC-91630CD52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B7979-4906-57AA-3DC0-52F5CE7E1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78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045E-8FA1-FA72-84D4-A438929C9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5783A-5B19-8287-EF21-32D6C2D16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8ED8D-39C9-E9EB-DAB7-AF74ED659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BE77E-2215-874F-30A5-92ED33BB6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64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B3D5-3C09-117B-9F4F-6D242767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06CC6-E734-C68B-A2E7-93020763F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15EAA-3C89-24C3-EE91-536312646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5359A-88E3-85E3-D2B7-B1E0D7DD2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21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61AE3-0622-66A3-5C30-1E0C2925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3A048-FE9D-9C5F-1904-854B38488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7EAEC-9CFB-A4C0-DDCD-6A5777FA5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2C09C-D166-CF2C-C159-DD6C42BFC3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09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7CEA9-54FE-FAA7-7466-5ECFC49B2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150A0-FF7D-CF86-9C14-417818FE5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1328A-6ECD-BC4E-D807-F7221BA77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E079C-6629-5D38-A576-FDCC97055F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05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51AB-CED9-19BE-812C-84DCD035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3C92D-2607-9D15-F1E1-430CC252B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B7F04-C9A5-26B0-E6D9-ADA6A9C89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6F02A-28FB-F48A-E586-176C93482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04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C5E7-849D-6B1E-1417-2471E7C7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673F4-8985-73BB-8D32-056AFA871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28364-F014-6E82-A274-B8BDBE25A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AF1C2-9817-9239-8DE9-B511F354B4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3C37-3C3F-1459-AA0F-6C19B67E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EA78-7227-C6F5-B986-29985C8AD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9C850-FF88-714D-1128-BD1E99CC0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7DA16-18E3-F46D-9892-373C9F35E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46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C6CAF-396D-F0A1-5F49-AC787B37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8A3C1-6FCA-86D9-7E1D-20F47A4A3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48032-4D83-1DE1-749B-11895EB27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19731-7AB7-CCF0-AC55-9660C1530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24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5994-2C45-59C2-FB81-72188C78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7BD86-D6D6-8DB3-9231-4FA209EAA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5BFB2-CF16-A88A-4C92-060B538BD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9CEC5-C0DA-2DD9-1112-BC779423F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402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D800-C76E-9A3A-26E6-7AC1681C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3E10F-0537-D59F-28EC-968342736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791B3-E101-7A5A-27A6-0A07FF204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0D547-4F55-5501-E86E-F00126440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1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6D33E-A4F4-3762-8ECF-FFFCB55D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CC0D2-158A-B854-8703-3F9012373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DD91B-2772-C913-8F6D-1C6C93376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EF1F5-DD82-E415-6D9D-052F6468C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84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1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F4B94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2665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4B94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of Happiness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Nation Happy?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analysis of the 2019 Happiness Score across 156 countries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World Happiness Report, 2019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87363-AB04-2850-2452-34DA489AAC96}"/>
              </a:ext>
            </a:extLst>
          </p:cNvPr>
          <p:cNvSpPr txBox="1"/>
          <p:nvPr/>
        </p:nvSpPr>
        <p:spPr>
          <a:xfrm>
            <a:off x="1651000" y="723900"/>
            <a:ext cx="146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for 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B0F2F2-D5DB-5563-A130-BCC74ECF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432" y="365760"/>
            <a:ext cx="2029108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is scored on overall happiness and six contributing factors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562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ranked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8562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recorded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8562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8562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Contributing Factors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274320" cy="274320"/>
          </a:xfrm>
          <a:prstGeom prst="ellipse">
            <a:avLst/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3251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output per person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4142232"/>
            <a:ext cx="274320" cy="274320"/>
          </a:xfrm>
          <a:prstGeom prst="ellipse">
            <a:avLst/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3251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someone to count 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4142232"/>
            <a:ext cx="274320" cy="274320"/>
          </a:xfrm>
          <a:prstGeom prst="ellipse">
            <a:avLst/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49640" y="40233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 expectancy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43251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healthy living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56632"/>
            <a:ext cx="274320" cy="274320"/>
          </a:xfrm>
          <a:prstGeom prst="ellipse">
            <a:avLst/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" y="4937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make life choices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over one's life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5056632"/>
            <a:ext cx="274320" cy="274320"/>
          </a:xfrm>
          <a:prstGeom prst="ellipse">
            <a:avLst/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4937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Charitable behavior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5056632"/>
            <a:ext cx="274320" cy="274320"/>
          </a:xfrm>
          <a:prstGeom prst="ellipse">
            <a:avLst/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49640" y="4937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Perceptions of corruption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4964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government &amp; business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1D3CD-322D-5A95-0116-EE23E01A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AC830C-B5EC-17B9-DFB0-29ED8E739503}"/>
              </a:ext>
            </a:extLst>
          </p:cNvPr>
          <p:cNvSpPr/>
          <p:nvPr/>
        </p:nvSpPr>
        <p:spPr>
          <a:xfrm>
            <a:off x="517333" y="3160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Pre processing 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F4BD4A-492C-723B-ABC7-DC12670347AA}"/>
              </a:ext>
            </a:extLst>
          </p:cNvPr>
          <p:cNvSpPr/>
          <p:nvPr/>
        </p:nvSpPr>
        <p:spPr>
          <a:xfrm>
            <a:off x="8753643" y="258437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5042DF6-23CA-14DF-1527-1441B6BCACB8}"/>
              </a:ext>
            </a:extLst>
          </p:cNvPr>
          <p:cNvSpPr/>
          <p:nvPr/>
        </p:nvSpPr>
        <p:spPr>
          <a:xfrm>
            <a:off x="9273941" y="324467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E75F2D9-A10E-9359-1E38-6F4EDCFDF5C2}"/>
              </a:ext>
            </a:extLst>
          </p:cNvPr>
          <p:cNvSpPr/>
          <p:nvPr/>
        </p:nvSpPr>
        <p:spPr>
          <a:xfrm>
            <a:off x="96012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288445C-037F-3D0A-954E-C6B3A0F95C43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4C16D43-862E-512E-0DC4-382ACD7ED473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4ABC2-E41D-7E8A-45B2-5C8F41E95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04" y="2080246"/>
            <a:ext cx="8131072" cy="20650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05FE39-685A-CB31-1F2B-019B1AE2FA3A}"/>
              </a:ext>
            </a:extLst>
          </p:cNvPr>
          <p:cNvSpPr txBox="1"/>
          <p:nvPr/>
        </p:nvSpPr>
        <p:spPr>
          <a:xfrm>
            <a:off x="8618709" y="2056567"/>
            <a:ext cx="29941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What it does</a:t>
            </a:r>
            <a:r>
              <a:rPr lang="en-US" dirty="0"/>
              <a:t>: Displays the first 5 rows of your dataset by default.</a:t>
            </a:r>
          </a:p>
          <a:p>
            <a:pPr lvl="0"/>
            <a:r>
              <a:rPr lang="en-US" b="1" dirty="0"/>
              <a:t>Why it’s useful</a:t>
            </a:r>
            <a:r>
              <a:rPr lang="en-US" dirty="0"/>
              <a:t>: Gives you a quick preview of the data structure, column names, and sample values.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40389F-A547-EBBB-7FED-2B673E126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" y="4361435"/>
            <a:ext cx="8271776" cy="21219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AF83542-C7C4-1B6F-5501-FC96D613EF5C}"/>
              </a:ext>
            </a:extLst>
          </p:cNvPr>
          <p:cNvSpPr txBox="1"/>
          <p:nvPr/>
        </p:nvSpPr>
        <p:spPr>
          <a:xfrm>
            <a:off x="8794369" y="4517999"/>
            <a:ext cx="29941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What it does</a:t>
            </a:r>
            <a:r>
              <a:rPr lang="en-US" dirty="0"/>
              <a:t>: Displays the first 5 rows of your dataset by default.</a:t>
            </a:r>
          </a:p>
          <a:p>
            <a:pPr lvl="0"/>
            <a:r>
              <a:rPr lang="en-US" b="1" dirty="0"/>
              <a:t>Why it’s useful</a:t>
            </a:r>
            <a:r>
              <a:rPr lang="en-US" dirty="0"/>
              <a:t>: Gives you a quick preview of the data structure, column names, and sample values.</a:t>
            </a:r>
          </a:p>
        </p:txBody>
      </p:sp>
    </p:spTree>
    <p:extLst>
      <p:ext uri="{BB962C8B-B14F-4D97-AF65-F5344CB8AC3E}">
        <p14:creationId xmlns:p14="http://schemas.microsoft.com/office/powerpoint/2010/main" val="157204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5F4A-F0BF-1474-A224-B93A810F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2F7755-10F1-97C8-EC10-963D78E1ABA9}"/>
              </a:ext>
            </a:extLst>
          </p:cNvPr>
          <p:cNvSpPr/>
          <p:nvPr/>
        </p:nvSpPr>
        <p:spPr>
          <a:xfrm>
            <a:off x="517333" y="3160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Pre processing 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DBA5C5F-B660-0EDF-A467-F23D1BBA283B}"/>
              </a:ext>
            </a:extLst>
          </p:cNvPr>
          <p:cNvSpPr/>
          <p:nvPr/>
        </p:nvSpPr>
        <p:spPr>
          <a:xfrm>
            <a:off x="8753643" y="258437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E8863DF-265B-0D62-B58C-D85A50C3BF93}"/>
              </a:ext>
            </a:extLst>
          </p:cNvPr>
          <p:cNvSpPr/>
          <p:nvPr/>
        </p:nvSpPr>
        <p:spPr>
          <a:xfrm>
            <a:off x="9273941" y="324467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E5FDF38-EA75-4F44-A1BE-330D9D56BC61}"/>
              </a:ext>
            </a:extLst>
          </p:cNvPr>
          <p:cNvSpPr/>
          <p:nvPr/>
        </p:nvSpPr>
        <p:spPr>
          <a:xfrm>
            <a:off x="96012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6FA3C0F-279E-D98F-21F4-7941C22156E2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B6AF7BF-5356-0766-CFA4-BF8750003E0C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3F1DA-581A-2256-40A9-1BD0873A3376}"/>
              </a:ext>
            </a:extLst>
          </p:cNvPr>
          <p:cNvSpPr txBox="1"/>
          <p:nvPr/>
        </p:nvSpPr>
        <p:spPr>
          <a:xfrm>
            <a:off x="960387" y="4500848"/>
            <a:ext cx="2994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we do this:</a:t>
            </a:r>
          </a:p>
          <a:p>
            <a:pPr lvl="0"/>
            <a:r>
              <a:rPr lang="en-US" b="1" dirty="0"/>
              <a:t>-</a:t>
            </a:r>
            <a:r>
              <a:rPr lang="en-US" dirty="0"/>
              <a:t>To understand the dataset structure</a:t>
            </a:r>
          </a:p>
          <a:p>
            <a:pPr lvl="0"/>
            <a:r>
              <a:rPr lang="en-US" dirty="0"/>
              <a:t>-To reference columns correctly in your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817263-5DBC-E3FE-3ED8-ED7307FFF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37"/>
          <a:stretch>
            <a:fillRect/>
          </a:stretch>
        </p:blipFill>
        <p:spPr>
          <a:xfrm>
            <a:off x="403459" y="1888838"/>
            <a:ext cx="9573961" cy="190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5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E64EC-C6CC-07F8-833C-672FAE1C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403000-7E5A-BC47-5F4E-2F8C7BEC4CED}"/>
              </a:ext>
            </a:extLst>
          </p:cNvPr>
          <p:cNvSpPr/>
          <p:nvPr/>
        </p:nvSpPr>
        <p:spPr>
          <a:xfrm>
            <a:off x="517333" y="3160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Pre processing 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F73C2A-5330-06C4-4D96-1BA24BFECB24}"/>
              </a:ext>
            </a:extLst>
          </p:cNvPr>
          <p:cNvSpPr/>
          <p:nvPr/>
        </p:nvSpPr>
        <p:spPr>
          <a:xfrm>
            <a:off x="8753643" y="258437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3069D0B-1673-4BA7-8742-74AAF24A6786}"/>
              </a:ext>
            </a:extLst>
          </p:cNvPr>
          <p:cNvSpPr/>
          <p:nvPr/>
        </p:nvSpPr>
        <p:spPr>
          <a:xfrm>
            <a:off x="9273941" y="324467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255737B-446F-6ADB-ADF0-1C15C56F496D}"/>
              </a:ext>
            </a:extLst>
          </p:cNvPr>
          <p:cNvSpPr/>
          <p:nvPr/>
        </p:nvSpPr>
        <p:spPr>
          <a:xfrm>
            <a:off x="96012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FB816C5-5574-1A55-089F-D4AAD710C7A8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30F3AE7-E3B7-FD55-286D-423324AB4F26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80EBD-CFEC-41AA-346C-160B491E8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7505"/>
            <a:ext cx="7154273" cy="4620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9C559C-8139-EC97-7B44-DAE36E777E11}"/>
              </a:ext>
            </a:extLst>
          </p:cNvPr>
          <p:cNvSpPr txBox="1"/>
          <p:nvPr/>
        </p:nvSpPr>
        <p:spPr>
          <a:xfrm>
            <a:off x="8329062" y="2387600"/>
            <a:ext cx="29391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What it does</a:t>
            </a:r>
            <a:r>
              <a:rPr lang="en-US" dirty="0"/>
              <a:t>: Prints a concise summary of the DataFrame.</a:t>
            </a:r>
          </a:p>
          <a:p>
            <a:pPr lvl="0"/>
            <a:r>
              <a:rPr lang="en-US" b="1" dirty="0"/>
              <a:t>What you get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Number of rows and columns.</a:t>
            </a:r>
          </a:p>
          <a:p>
            <a:pPr lvl="1"/>
            <a:r>
              <a:rPr lang="en-US" dirty="0"/>
              <a:t>Column names.</a:t>
            </a:r>
          </a:p>
          <a:p>
            <a:pPr lvl="1"/>
            <a:r>
              <a:rPr lang="en-US" dirty="0"/>
              <a:t>Data types (e.g., float64, object).</a:t>
            </a:r>
          </a:p>
          <a:p>
            <a:pPr lvl="1"/>
            <a:r>
              <a:rPr lang="en-US" dirty="0"/>
              <a:t>How many non-null (non-missing) values each column has.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87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F184-CA63-74EF-B17A-DD36CBCE2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096185-4036-BE87-6B5F-8054B588205A}"/>
              </a:ext>
            </a:extLst>
          </p:cNvPr>
          <p:cNvSpPr/>
          <p:nvPr/>
        </p:nvSpPr>
        <p:spPr>
          <a:xfrm>
            <a:off x="517333" y="3160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Pre processing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059912-8CB5-DC7D-AC90-1FFC8F52457E}"/>
              </a:ext>
            </a:extLst>
          </p:cNvPr>
          <p:cNvSpPr/>
          <p:nvPr/>
        </p:nvSpPr>
        <p:spPr>
          <a:xfrm>
            <a:off x="8753643" y="258437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463947-7079-8021-4692-24FC0F60725E}"/>
              </a:ext>
            </a:extLst>
          </p:cNvPr>
          <p:cNvSpPr/>
          <p:nvPr/>
        </p:nvSpPr>
        <p:spPr>
          <a:xfrm>
            <a:off x="9273941" y="324467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F3F04EF-8255-7C8A-8A4B-33492FCC6F7A}"/>
              </a:ext>
            </a:extLst>
          </p:cNvPr>
          <p:cNvSpPr/>
          <p:nvPr/>
        </p:nvSpPr>
        <p:spPr>
          <a:xfrm>
            <a:off x="96012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413DAC8-153C-21ED-1FA2-39C76B989EFA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C92F7FF-23F9-3FEB-7CEE-DD2B772E4C38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82E85AE8-36A4-C72D-04D2-7AE7810454BB}"/>
              </a:ext>
            </a:extLst>
          </p:cNvPr>
          <p:cNvSpPr/>
          <p:nvPr/>
        </p:nvSpPr>
        <p:spPr>
          <a:xfrm>
            <a:off x="437925" y="21285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8981A05B-0183-F23C-C4F9-D566F5DB3A09}"/>
              </a:ext>
            </a:extLst>
          </p:cNvPr>
          <p:cNvSpPr/>
          <p:nvPr/>
        </p:nvSpPr>
        <p:spPr>
          <a:xfrm>
            <a:off x="437925" y="229311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EA67F046-17AD-14F1-AC70-508C971BB440}"/>
              </a:ext>
            </a:extLst>
          </p:cNvPr>
          <p:cNvSpPr/>
          <p:nvPr/>
        </p:nvSpPr>
        <p:spPr>
          <a:xfrm>
            <a:off x="437925" y="3088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outliers</a:t>
            </a:r>
            <a:endParaRPr lang="en-US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849693B-C68B-B0ED-3BCF-4337605A5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799" y="1759738"/>
            <a:ext cx="7605444" cy="297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6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841A-C619-14BB-5EF2-E7747FD2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177F60-C527-CE2B-19B5-69C6B9376CB0}"/>
              </a:ext>
            </a:extLst>
          </p:cNvPr>
          <p:cNvSpPr/>
          <p:nvPr/>
        </p:nvSpPr>
        <p:spPr>
          <a:xfrm>
            <a:off x="517333" y="3160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Pre processing</a:t>
            </a:r>
            <a:endParaRPr lang="en-US" sz="3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2F90D7D-6935-22B0-9741-94DBF002BEA0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B3D80B5-A202-8A52-7646-84E4E4915C50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3AA93-0A57-CAE0-7A5A-8F88A5B6C0A9}"/>
              </a:ext>
            </a:extLst>
          </p:cNvPr>
          <p:cNvSpPr txBox="1"/>
          <p:nvPr/>
        </p:nvSpPr>
        <p:spPr>
          <a:xfrm>
            <a:off x="1087345" y="2886839"/>
            <a:ext cx="74876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astype(str)</a:t>
            </a:r>
          </a:p>
          <a:p>
            <a:pPr lvl="0"/>
            <a:r>
              <a:rPr lang="en-US" dirty="0"/>
              <a:t>The .astype() method is used to convert the data type of a column.</a:t>
            </a:r>
          </a:p>
          <a:p>
            <a:pPr lvl="0"/>
            <a:r>
              <a:rPr lang="en-US" dirty="0"/>
              <a:t>We are converting the values in </a:t>
            </a:r>
            <a:r>
              <a:rPr lang="en-US" i="1" dirty="0"/>
              <a:t>Country or region</a:t>
            </a:r>
            <a:r>
              <a:rPr lang="en-US" dirty="0"/>
              <a:t> into </a:t>
            </a:r>
            <a:r>
              <a:rPr lang="en-US" b="1" dirty="0"/>
              <a:t>string type (</a:t>
            </a:r>
            <a:r>
              <a:rPr lang="en-US" dirty="0"/>
              <a:t>str</a:t>
            </a:r>
            <a:r>
              <a:rPr lang="en-US" b="1" dirty="0"/>
              <a:t>)</a:t>
            </a:r>
            <a:r>
              <a:rPr lang="en-US" dirty="0"/>
              <a:t> explicitly.</a:t>
            </a:r>
          </a:p>
          <a:p>
            <a:endParaRPr lang="en-US" b="1" dirty="0"/>
          </a:p>
          <a:p>
            <a:r>
              <a:rPr lang="en-US" b="1" dirty="0"/>
              <a:t>Why do this?</a:t>
            </a:r>
            <a:endParaRPr lang="en-US" dirty="0"/>
          </a:p>
          <a:p>
            <a:pPr lvl="0"/>
            <a:r>
              <a:rPr lang="en-US" dirty="0"/>
              <a:t>Sometimes when you load a CSV, text columns may be read as object type (a generic type in pandas).</a:t>
            </a:r>
          </a:p>
          <a:p>
            <a:pPr lvl="0"/>
            <a:r>
              <a:rPr lang="en-US" dirty="0"/>
              <a:t>Converting to str ensures that all entries are treated as proper strings.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20B7BD-C81D-5381-2134-55D3DD16F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19" y="1517894"/>
            <a:ext cx="9754961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84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2EFE-DE3F-FEE2-0C42-86126154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244856-C8D6-632C-3E77-F225D32FCB35}"/>
              </a:ext>
            </a:extLst>
          </p:cNvPr>
          <p:cNvSpPr/>
          <p:nvPr/>
        </p:nvSpPr>
        <p:spPr>
          <a:xfrm>
            <a:off x="517333" y="3160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Pre processing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2378D7-AE78-CD94-400D-937994F83B6E}"/>
              </a:ext>
            </a:extLst>
          </p:cNvPr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F245850-273D-B0A7-F7C1-D6191CB6CE26}"/>
              </a:ext>
            </a:extLst>
          </p:cNvPr>
          <p:cNvSpPr/>
          <p:nvPr/>
        </p:nvSpPr>
        <p:spPr>
          <a:xfrm>
            <a:off x="8753643" y="258437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5E84ED-1B36-7493-68B3-9D117B6861CD}"/>
              </a:ext>
            </a:extLst>
          </p:cNvPr>
          <p:cNvSpPr/>
          <p:nvPr/>
        </p:nvSpPr>
        <p:spPr>
          <a:xfrm>
            <a:off x="9273941" y="324467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76265B1-4DE5-A4C7-AABF-3EF0B7BEFB8C}"/>
              </a:ext>
            </a:extLst>
          </p:cNvPr>
          <p:cNvSpPr/>
          <p:nvPr/>
        </p:nvSpPr>
        <p:spPr>
          <a:xfrm>
            <a:off x="96012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F4C904A-17C8-A5A3-B122-42D6135F2798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56D1716-BBC2-56D5-3312-4444C3846FB8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3EE45-6962-BD28-D05E-F6883D051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0257"/>
            <a:ext cx="7754432" cy="12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C97B5E-10B1-2428-C7B4-E26C102D8F1D}"/>
              </a:ext>
            </a:extLst>
          </p:cNvPr>
          <p:cNvSpPr txBox="1"/>
          <p:nvPr/>
        </p:nvSpPr>
        <p:spPr>
          <a:xfrm>
            <a:off x="739040" y="2977745"/>
            <a:ext cx="853490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/>
              <a:t>What happens to the data:</a:t>
            </a:r>
          </a:p>
          <a:p>
            <a:pPr lvl="0"/>
            <a:r>
              <a:rPr lang="en-US" dirty="0"/>
              <a:t>Each unique country name gets assigned a number (starting from 0).</a:t>
            </a:r>
          </a:p>
          <a:p>
            <a:pPr lvl="0"/>
            <a:r>
              <a:rPr lang="en-US" dirty="0"/>
              <a:t>Example:</a:t>
            </a:r>
          </a:p>
          <a:p>
            <a:pPr lvl="1"/>
            <a:r>
              <a:rPr lang="en-US" dirty="0"/>
              <a:t>Finland → 0</a:t>
            </a:r>
          </a:p>
          <a:p>
            <a:pPr lvl="1"/>
            <a:r>
              <a:rPr lang="en-US" dirty="0"/>
              <a:t>Denmark → 1</a:t>
            </a:r>
          </a:p>
          <a:p>
            <a:pPr lvl="1"/>
            <a:r>
              <a:rPr lang="en-US" dirty="0"/>
              <a:t>Norway → 2</a:t>
            </a:r>
          </a:p>
          <a:p>
            <a:pPr lvl="1"/>
            <a:r>
              <a:rPr lang="en-US" dirty="0"/>
              <a:t>… and so on, until all 156 countries have a code.</a:t>
            </a:r>
          </a:p>
          <a:p>
            <a:pPr lvl="0"/>
            <a:r>
              <a:rPr lang="en-US" dirty="0"/>
              <a:t>A new column Country_encoded is added to the DataFrame with these numeric codes</a:t>
            </a:r>
            <a:endParaRPr lang="en-US" b="1" dirty="0"/>
          </a:p>
          <a:p>
            <a:r>
              <a:rPr lang="en-US" b="1" dirty="0"/>
              <a:t>Why do this?</a:t>
            </a:r>
          </a:p>
          <a:p>
            <a:pPr lvl="0"/>
            <a:r>
              <a:rPr lang="en-US" dirty="0"/>
              <a:t>Machine learning models can’t work directly with text labels like “Finland” or “Denmark.”</a:t>
            </a:r>
          </a:p>
          <a:p>
            <a:pPr lvl="0"/>
            <a:r>
              <a:rPr lang="en-US" dirty="0"/>
              <a:t>Encoding converts them into numbers so models can process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8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69B63-4389-1E38-9CD5-9CCF649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45C2F4-D9B9-B3EA-3A7C-CF7475A0E945}"/>
              </a:ext>
            </a:extLst>
          </p:cNvPr>
          <p:cNvSpPr/>
          <p:nvPr/>
        </p:nvSpPr>
        <p:spPr>
          <a:xfrm>
            <a:off x="517333" y="31607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Pre processing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CDABAB-2344-110C-9D75-CB54D4010315}"/>
              </a:ext>
            </a:extLst>
          </p:cNvPr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E31831-B45B-94AA-FF1B-1DF1D1B177B7}"/>
              </a:ext>
            </a:extLst>
          </p:cNvPr>
          <p:cNvSpPr/>
          <p:nvPr/>
        </p:nvSpPr>
        <p:spPr>
          <a:xfrm>
            <a:off x="8753643" y="258437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F9A9B4-8567-246C-AA4C-478258D004CF}"/>
              </a:ext>
            </a:extLst>
          </p:cNvPr>
          <p:cNvSpPr/>
          <p:nvPr/>
        </p:nvSpPr>
        <p:spPr>
          <a:xfrm>
            <a:off x="9273941" y="324467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CBE4766-562B-5F81-5D47-CCA67D178C9C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418EB3E-4FB2-AC64-C6A3-F044850664E3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8CD51-FE64-95C5-8A5F-0F3302D55C09}"/>
              </a:ext>
            </a:extLst>
          </p:cNvPr>
          <p:cNvSpPr txBox="1"/>
          <p:nvPr/>
        </p:nvSpPr>
        <p:spPr>
          <a:xfrm>
            <a:off x="403458" y="2225671"/>
            <a:ext cx="10975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This divides each country’s overall happiness </a:t>
            </a:r>
            <a:r>
              <a:rPr lang="en-US" b="1" dirty="0">
                <a:effectLst/>
              </a:rPr>
              <a:t>Score</a:t>
            </a:r>
            <a:r>
              <a:rPr lang="en-US" dirty="0">
                <a:effectLst/>
              </a:rPr>
              <a:t> by its </a:t>
            </a:r>
            <a:r>
              <a:rPr lang="en-US" b="1" dirty="0">
                <a:effectLst/>
              </a:rPr>
              <a:t>GDP per capita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It gives a measure of </a:t>
            </a:r>
            <a:r>
              <a:rPr lang="en-US" b="1" dirty="0">
                <a:effectLst/>
              </a:rPr>
              <a:t>happiness efficiency</a:t>
            </a:r>
            <a:r>
              <a:rPr lang="en-US" dirty="0">
                <a:effectLst/>
              </a:rPr>
              <a:t> — how much happiness is achieved per unit of economic wealth.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F102A9-A9B7-B509-D144-45B80E99F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37" y="1602390"/>
            <a:ext cx="7173326" cy="438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370076-2FD9-0A4B-9B09-8A18631062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391" b="16537"/>
          <a:stretch>
            <a:fillRect/>
          </a:stretch>
        </p:blipFill>
        <p:spPr>
          <a:xfrm>
            <a:off x="290264" y="3120321"/>
            <a:ext cx="9812119" cy="2562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211337-CC9C-23B6-A195-80F6437F9F3C}"/>
              </a:ext>
            </a:extLst>
          </p:cNvPr>
          <p:cNvSpPr txBox="1"/>
          <p:nvPr/>
        </p:nvSpPr>
        <p:spPr>
          <a:xfrm>
            <a:off x="290264" y="3492326"/>
            <a:ext cx="10810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This multiplies two factors: </a:t>
            </a:r>
            <a:r>
              <a:rPr lang="en-US" b="1" dirty="0">
                <a:effectLst/>
              </a:rPr>
              <a:t>social support</a:t>
            </a:r>
            <a:r>
              <a:rPr lang="en-US" dirty="0">
                <a:effectLst/>
              </a:rPr>
              <a:t> and </a:t>
            </a:r>
            <a:r>
              <a:rPr lang="en-US" b="1" dirty="0">
                <a:effectLst/>
              </a:rPr>
              <a:t>freedom to make life choices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result is a combined index showing how strongly social and personal freedom together contribute to well-being.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4AF7B2-64BA-8D7E-60C9-341424D5DC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882" b="2212"/>
          <a:stretch>
            <a:fillRect/>
          </a:stretch>
        </p:blipFill>
        <p:spPr>
          <a:xfrm>
            <a:off x="517333" y="4562552"/>
            <a:ext cx="6716062" cy="25689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5CFBC62-D779-A397-4168-D5E913436CEE}"/>
              </a:ext>
            </a:extLst>
          </p:cNvPr>
          <p:cNvSpPr txBox="1"/>
          <p:nvPr/>
        </p:nvSpPr>
        <p:spPr>
          <a:xfrm>
            <a:off x="269341" y="4876643"/>
            <a:ext cx="110784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Here, corruption perception values are inverted.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If corruption perception is high (close to 1), the new value becomes low (close to 0), representing </a:t>
            </a:r>
            <a:r>
              <a:rPr lang="en-US" b="1" dirty="0">
                <a:effectLst/>
              </a:rPr>
              <a:t>anti-corruption strength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Essentially, it transforms a negative measure into a positive one.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D5AB2B6-813F-1FBA-1736-8D1944122ADB}"/>
                  </a:ext>
                </a:extLst>
              </p14:cNvPr>
              <p14:cNvContentPartPr/>
              <p14:nvPr/>
            </p14:nvContentPartPr>
            <p14:xfrm>
              <a:off x="8971080" y="142232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D5AB2B6-813F-1FBA-1736-8D1944122A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62440" y="14133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90B370B-45FB-9FF9-CC98-24F43860F2C7}"/>
                  </a:ext>
                </a:extLst>
              </p14:cNvPr>
              <p14:cNvContentPartPr/>
              <p14:nvPr/>
            </p14:nvContentPartPr>
            <p14:xfrm>
              <a:off x="-233760" y="324104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90B370B-45FB-9FF9-CC98-24F43860F2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42760" y="32320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648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760E-F5A0-9923-B346-CC81FE6B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4EEB9B-9DB6-28B8-3752-DBD494F0B52A}"/>
              </a:ext>
            </a:extLst>
          </p:cNvPr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Statistical summery </a:t>
            </a:r>
            <a:endParaRPr lang="en-US" sz="3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28A418C-E7C7-142B-DE6E-9E6DF4DDF7BC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F6014AD-3DC6-AB57-3631-2B3EF0ED1BA3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B14E8-E1BE-20A5-6717-039D5F506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0" y="1479502"/>
            <a:ext cx="11707859" cy="399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5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285E-F2A9-4918-C53A-803FE286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6099EF-FA2B-5638-713C-4E05079B5717}"/>
              </a:ext>
            </a:extLst>
          </p:cNvPr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Data exploring + cleaning  </a:t>
            </a:r>
            <a:endParaRPr lang="en-US" sz="3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C3246E4-60B2-BDD0-6521-7E8A7249A709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2D6E856-FEA6-81CC-6562-A04247183C20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D62FF134-C6E2-2CA4-BAF5-F20D4478F8C0}"/>
              </a:ext>
            </a:extLst>
          </p:cNvPr>
          <p:cNvSpPr/>
          <p:nvPr/>
        </p:nvSpPr>
        <p:spPr>
          <a:xfrm>
            <a:off x="8753643" y="258437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7A258E2-9FED-F206-AD5B-1014D11CE192}"/>
              </a:ext>
            </a:extLst>
          </p:cNvPr>
          <p:cNvSpPr/>
          <p:nvPr/>
        </p:nvSpPr>
        <p:spPr>
          <a:xfrm>
            <a:off x="8753643" y="1053965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4C4050-B0B8-E5DA-1493-57BC23D3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055" y="1740360"/>
            <a:ext cx="3639058" cy="4563112"/>
          </a:xfrm>
          <a:prstGeom prst="rect">
            <a:avLst/>
          </a:prstGeom>
        </p:spPr>
      </p:pic>
      <p:sp>
        <p:nvSpPr>
          <p:cNvPr id="15" name="Shape 8">
            <a:extLst>
              <a:ext uri="{FF2B5EF4-FFF2-40B4-BE49-F238E27FC236}">
                <a16:creationId xmlns:a16="http://schemas.microsoft.com/office/drawing/2014/main" id="{ECCFB7D9-FEF5-21F3-7D65-DD5A666D6C85}"/>
              </a:ext>
            </a:extLst>
          </p:cNvPr>
          <p:cNvSpPr/>
          <p:nvPr/>
        </p:nvSpPr>
        <p:spPr>
          <a:xfrm>
            <a:off x="782320" y="15900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37D40D05-7F1F-D837-E745-23959DAC5D8A}"/>
              </a:ext>
            </a:extLst>
          </p:cNvPr>
          <p:cNvSpPr/>
          <p:nvPr/>
        </p:nvSpPr>
        <p:spPr>
          <a:xfrm>
            <a:off x="782320" y="17546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60E3691-ACBB-4016-C789-4EDE2705FBEC}"/>
              </a:ext>
            </a:extLst>
          </p:cNvPr>
          <p:cNvSpPr/>
          <p:nvPr/>
        </p:nvSpPr>
        <p:spPr>
          <a:xfrm>
            <a:off x="782320" y="2550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131D1E-1EB9-A9A0-674D-B4BAF37B3988}"/>
              </a:ext>
            </a:extLst>
          </p:cNvPr>
          <p:cNvSpPr txBox="1"/>
          <p:nvPr/>
        </p:nvSpPr>
        <p:spPr>
          <a:xfrm>
            <a:off x="7419113" y="2045974"/>
            <a:ext cx="4582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Dropping duplications : </a:t>
            </a:r>
            <a:endParaRPr lang="en-US" sz="3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D11FF9B-ACE2-260A-FD56-0EB72902C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886" y="2778760"/>
            <a:ext cx="3628794" cy="8216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DDEB4BA-D306-C592-77F9-85981B639267}"/>
              </a:ext>
            </a:extLst>
          </p:cNvPr>
          <p:cNvSpPr txBox="1"/>
          <p:nvPr/>
        </p:nvSpPr>
        <p:spPr>
          <a:xfrm>
            <a:off x="299185" y="1032697"/>
            <a:ext cx="1483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Step 1:   </a:t>
            </a:r>
            <a:endParaRPr lang="en-US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E28336-5C68-3185-CA2C-E514400CA359}"/>
              </a:ext>
            </a:extLst>
          </p:cNvPr>
          <p:cNvSpPr txBox="1"/>
          <p:nvPr/>
        </p:nvSpPr>
        <p:spPr>
          <a:xfrm>
            <a:off x="7360922" y="1386369"/>
            <a:ext cx="1534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Step 2:   </a:t>
            </a:r>
            <a:endParaRPr lang="en-US" sz="3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430515-2FA9-D0D0-E3D5-F8CACEAA1F68}"/>
              </a:ext>
            </a:extLst>
          </p:cNvPr>
          <p:cNvSpPr txBox="1"/>
          <p:nvPr/>
        </p:nvSpPr>
        <p:spPr>
          <a:xfrm>
            <a:off x="7736386" y="3765587"/>
            <a:ext cx="4264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avoid double counting ,ensure clean statistics, prevent errors in modeling, maintain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2955902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World's Happiest Countries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Happiness Score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86800" y="1463040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223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829800" y="1691640"/>
            <a:ext cx="640080" cy="64008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298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Finland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0" y="2770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7.769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for the 2nd year running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0" y="3886200"/>
            <a:ext cx="2926080" cy="2423160"/>
          </a:xfrm>
          <a:prstGeom prst="roundRect">
            <a:avLst>
              <a:gd name="adj" fmla="val 3019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6968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Dominance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69680" y="44348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 top 5 spots are held by Nordic nations — Finland, Denmark, Norway, and Iceland — pointing to strong social safety nets as a common thread.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6" name="chart">
            <a:extLst>
              <a:ext uri="{FF2B5EF4-FFF2-40B4-BE49-F238E27FC236}">
                <a16:creationId xmlns:a16="http://schemas.microsoft.com/office/drawing/2014/main" id="{C7B82610-52AA-94C1-86C5-A59203D44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74490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End of the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lowest-scoring countries 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92240" y="15544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DE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7208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Sudan ranks last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score of 2.853 — nearly 5 points below Finland. Every one of the bottom 5 has experienced recent conflict, displacement, or severe economic hardship.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388620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223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208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Check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4434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5.41
</a:t>
            </a: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score: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5.38
</a:t>
            </a: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
</a:t>
            </a:r>
            <a:r>
              <a:rPr lang="en-US" sz="12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 detected: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FC394B-3139-193E-D811-1EA2B17C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4755"/>
            <a:ext cx="6461760" cy="50641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Happiness Scores Spread?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Happiness Scores across all 156 countries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1F9820-D19F-E245-F8EA-B786ACD7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8760"/>
            <a:ext cx="7391182" cy="5301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805F69-36E1-8D3E-9506-04B2B647F8BD}"/>
              </a:ext>
            </a:extLst>
          </p:cNvPr>
          <p:cNvSpPr txBox="1"/>
          <p:nvPr/>
        </p:nvSpPr>
        <p:spPr>
          <a:xfrm>
            <a:off x="8838398" y="1532550"/>
            <a:ext cx="60976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Conclusion: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B69EC-A72B-54E3-7530-FB48248DBF79}"/>
              </a:ext>
            </a:extLst>
          </p:cNvPr>
          <p:cNvSpPr txBox="1"/>
          <p:nvPr/>
        </p:nvSpPr>
        <p:spPr>
          <a:xfrm>
            <a:off x="7247823" y="2690336"/>
            <a:ext cx="47645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The majority of countries experience moderate happiness, with scores concentrated around the average. Extreme highs and lows are rare, indicating that global happiness is fairly balanced but not universally high.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Happiness Most?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each factor with Happiness Score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778240" y="1508760"/>
            <a:ext cx="2834640" cy="4754880"/>
          </a:xfrm>
          <a:prstGeom prst="roundRect">
            <a:avLst>
              <a:gd name="adj" fmla="val 2581"/>
            </a:avLst>
          </a:prstGeom>
          <a:solidFill>
            <a:srgbClr val="223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0068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006840" y="21031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strength, health, and social connection move together with happiness far more than generosity or corruption perceptions.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006840" y="3794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06840" y="42519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single strongest predictor of a country's happiness score.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2" name="chart">
            <a:extLst>
              <a:ext uri="{FF2B5EF4-FFF2-40B4-BE49-F238E27FC236}">
                <a16:creationId xmlns:a16="http://schemas.microsoft.com/office/drawing/2014/main" id="{BFDE7F05-8FD6-0184-9F23-9378BD3D9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56"/>
            <a:ext cx="7955280" cy="46634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 and Wellbeing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vs. Happiness Score — each dot is one country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89FA06-9663-B07D-CAC2-5D2025EB5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05" y="1310257"/>
            <a:ext cx="7195913" cy="5364863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3D41247-679A-3460-0FBA-773C546202E5}"/>
              </a:ext>
            </a:extLst>
          </p:cNvPr>
          <p:cNvSpPr/>
          <p:nvPr/>
        </p:nvSpPr>
        <p:spPr>
          <a:xfrm>
            <a:off x="7620000" y="8302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conclusion: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E9485-6573-F814-9FD6-C139E7E664CB}"/>
              </a:ext>
            </a:extLst>
          </p:cNvPr>
          <p:cNvSpPr txBox="1"/>
          <p:nvPr/>
        </p:nvSpPr>
        <p:spPr>
          <a:xfrm>
            <a:off x="7528560" y="1719500"/>
            <a:ext cx="32816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As </a:t>
            </a:r>
            <a:r>
              <a:rPr lang="en-US" b="1" dirty="0"/>
              <a:t>GDP per capita increases</a:t>
            </a:r>
            <a:r>
              <a:rPr lang="en-US" dirty="0"/>
              <a:t>, the </a:t>
            </a:r>
            <a:r>
              <a:rPr lang="en-US" b="1" dirty="0"/>
              <a:t>happiness score also tends to rise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suggests that </a:t>
            </a:r>
            <a:r>
              <a:rPr lang="en-US" b="1" dirty="0"/>
              <a:t>wealthier countries generally report higher levels of wellbeing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However, the points aren’t perfectly aligned — meaning </a:t>
            </a:r>
            <a:r>
              <a:rPr lang="en-US" b="1" dirty="0"/>
              <a:t>GDP isn’t the only factor</a:t>
            </a:r>
            <a:r>
              <a:rPr lang="en-US" dirty="0"/>
              <a:t> influencing happiness. Other aspects like social support, health, and freedom also play roles.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B2E3-6AF8-29A4-B934-801513082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013ECE-6350-B420-1216-6D0C09C43A14}"/>
              </a:ext>
            </a:extLst>
          </p:cNvPr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158A73-17B6-1845-3FE9-63B6900FACA5}"/>
              </a:ext>
            </a:extLst>
          </p:cNvPr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 vs. Happiness Score — each dot is one country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CD77F6B-8076-BD74-23D1-4B97E2B50D6C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F543C58-DCD5-92D0-E2A6-B4885B84C2B7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8B12-A537-6EA3-17C6-3B29F68B4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8216"/>
            <a:ext cx="6913651" cy="5156904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5A3D1C23-3135-76A6-BF5E-65CABBAC1CB2}"/>
              </a:ext>
            </a:extLst>
          </p:cNvPr>
          <p:cNvSpPr/>
          <p:nvPr/>
        </p:nvSpPr>
        <p:spPr>
          <a:xfrm>
            <a:off x="548640" y="325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Connections and Community </a:t>
            </a:r>
            <a:endParaRPr lang="en-US"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69BD4-FDB7-FDDE-1BC2-7F44AFFCA11D}"/>
              </a:ext>
            </a:extLst>
          </p:cNvPr>
          <p:cNvSpPr txBox="1"/>
          <p:nvPr/>
        </p:nvSpPr>
        <p:spPr>
          <a:xfrm>
            <a:off x="8158480" y="1518216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conclusion:</a:t>
            </a:r>
            <a:endParaRPr 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A9DC6-F154-CA61-776B-EE7A1ECB0D0D}"/>
              </a:ext>
            </a:extLst>
          </p:cNvPr>
          <p:cNvSpPr txBox="1"/>
          <p:nvPr/>
        </p:nvSpPr>
        <p:spPr>
          <a:xfrm>
            <a:off x="7020560" y="2477463"/>
            <a:ext cx="51117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Countries with </a:t>
            </a:r>
            <a:r>
              <a:rPr lang="en-US" b="1" dirty="0"/>
              <a:t>higher levels of social support</a:t>
            </a:r>
            <a:r>
              <a:rPr lang="en-US" dirty="0"/>
              <a:t> tend to have </a:t>
            </a:r>
            <a:r>
              <a:rPr lang="en-US" b="1" dirty="0"/>
              <a:t>higher happiness scores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means that people who feel supported by friends, family, or community are generally </a:t>
            </a:r>
            <a:r>
              <a:rPr lang="en-US" b="1" dirty="0"/>
              <a:t>happier and more satisfied</a:t>
            </a:r>
            <a:r>
              <a:rPr lang="en-US" dirty="0"/>
              <a:t> with life.</a:t>
            </a:r>
          </a:p>
          <a:p>
            <a:pPr lvl="0"/>
            <a:r>
              <a:rPr lang="en-US" dirty="0"/>
              <a:t>The upward trend suggests that </a:t>
            </a:r>
            <a:r>
              <a:rPr lang="en-US" b="1" dirty="0"/>
              <a:t>social connections are a key factor in wellbeing</a:t>
            </a:r>
            <a:r>
              <a:rPr lang="en-US" dirty="0"/>
              <a:t>, possibly even as important as economic wealth.</a:t>
            </a:r>
          </a:p>
        </p:txBody>
      </p:sp>
    </p:spTree>
    <p:extLst>
      <p:ext uri="{BB962C8B-B14F-4D97-AF65-F5344CB8AC3E}">
        <p14:creationId xmlns:p14="http://schemas.microsoft.com/office/powerpoint/2010/main" val="75122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3B76-FC14-22F7-0D25-429DA8356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388FA1-5B46-9FF4-AD49-E9476F16E404}"/>
              </a:ext>
            </a:extLst>
          </p:cNvPr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296044-4C53-A4FB-8252-E2EDDF804348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697C74C-EB72-40D1-870B-66B9DC35ABF9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7F6326BC-069D-52B3-4FC5-B42E7FA8D7C1}"/>
              </a:ext>
            </a:extLst>
          </p:cNvPr>
          <p:cNvSpPr/>
          <p:nvPr/>
        </p:nvSpPr>
        <p:spPr>
          <a:xfrm>
            <a:off x="548640" y="325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Machine learning model (training set):  </a:t>
            </a:r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08FBF-A0C0-40BB-C52C-DB72C0C47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31" y="960120"/>
            <a:ext cx="7843618" cy="582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64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6D75A-A0C5-954E-FD45-C8A33A52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8F85D4-7C2B-224B-BFAC-25431A69F98D}"/>
              </a:ext>
            </a:extLst>
          </p:cNvPr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13D408B-541B-CA44-56DA-1A649EF2E2DA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6320C8-F5FB-86BB-1A48-EBD487A13B64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7EDB9183-C722-B450-730C-BB54F5841DFE}"/>
              </a:ext>
            </a:extLst>
          </p:cNvPr>
          <p:cNvSpPr/>
          <p:nvPr/>
        </p:nvSpPr>
        <p:spPr>
          <a:xfrm>
            <a:off x="548640" y="325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Machine learning model (test set):  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53060-E869-F1B7-08E7-A93EA766E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1201"/>
            <a:ext cx="7366383" cy="58828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062F47-4F9C-D8DF-48BF-BAFCE4C5A1B8}"/>
              </a:ext>
            </a:extLst>
          </p:cNvPr>
          <p:cNvSpPr txBox="1"/>
          <p:nvPr/>
        </p:nvSpPr>
        <p:spPr>
          <a:xfrm>
            <a:off x="7409793" y="1681002"/>
            <a:ext cx="43617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The regression model demonstrates a </a:t>
            </a:r>
            <a:r>
              <a:rPr lang="en-US" b="1" dirty="0">
                <a:effectLst/>
              </a:rPr>
              <a:t>strong positive relationship</a:t>
            </a:r>
            <a:r>
              <a:rPr lang="en-US" dirty="0">
                <a:effectLst/>
              </a:rPr>
              <a:t> between GDP per capita and Happiness Score.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 both training and test sets, as GDP per capita increases, happiness scores tend to rise.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blue prediction line closely follows the red actual points, indicating that the model captures the trend well.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Minor deviations suggest that while GDP is a major contributor to happiness, other factors (like social support and health) also play a role.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Overall, the model generalizes effectively — the test set shows similar patterns to the training set, confirming good predictive performance.</a:t>
            </a:r>
            <a:endParaRPr lang="en-US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ED26C131-6B0B-FFA0-C19C-E1CEAB96639F}"/>
              </a:ext>
            </a:extLst>
          </p:cNvPr>
          <p:cNvSpPr/>
          <p:nvPr/>
        </p:nvSpPr>
        <p:spPr>
          <a:xfrm>
            <a:off x="7620000" y="8302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22315A"/>
                </a:solidFill>
                <a:latin typeface="Cambria" pitchFamily="34" charset="0"/>
                <a:ea typeface="Cambria" pitchFamily="34" charset="-122"/>
              </a:rPr>
              <a:t>Machine learning model conclusion: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800118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31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657600" cy="3657600"/>
          </a:xfrm>
          <a:prstGeom prst="ellipse">
            <a:avLst/>
          </a:prstGeom>
          <a:solidFill>
            <a:srgbClr val="F4B94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3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733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countries lead the world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Finland, Denmark, Norway &amp; Iceland occupy 4 of the top 5 spots, driven by strong social safety nets.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3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6733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matters most, statistically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is the strongest single correlate of happiness (r = 0.79), ahead of health and social support.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3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9136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and instability weigh heaviest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lowest-scoring nations — led by South Sudan — are all marked by recent conflict or crisis.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3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66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9136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Generosity doesn't predict happiness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37960" y="45262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 = 0.08, how generous a nation is shows almost no relationship to its happiness score.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31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2665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F4B94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2019  ·  Exploratory Data 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1293</Words>
  <Application>Microsoft Office PowerPoint</Application>
  <PresentationFormat>Widescreen</PresentationFormat>
  <Paragraphs>201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salma elalawi</cp:lastModifiedBy>
  <cp:revision>8</cp:revision>
  <dcterms:created xsi:type="dcterms:W3CDTF">2026-08-21T17:07:46Z</dcterms:created>
  <dcterms:modified xsi:type="dcterms:W3CDTF">2026-08-23T20:34:15Z</dcterms:modified>
</cp:coreProperties>
</file>