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21"/>
    <p:sldId id="271" r:id="rId22"/>
    <p:sldId id="272" r:id="rId2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5C76"/>
              </a:solidFill>
              <a:effectLst/>
            </c:spPr>
          </c:dPt>
          <c:dPt>
            <c:idx val="1"/>
            <c:bubble3D val="0"/>
            <c:spPr>
              <a:solidFill>
                <a:srgbClr val="C9A22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Did not survive</c:v>
                </c:pt>
                <c:pt idx="1">
                  <c:v>Survived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549</c:v>
                </c:pt>
                <c:pt idx="1">
                  <c:v>342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 (%)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5C7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74.2</c:v>
                </c:pt>
                <c:pt idx="1">
                  <c:v>18.9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2337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FC6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F3A"/>
        </a:solidFill>
        <a:ln>
          <a:noFill/>
        </a:ln>
        <a:effectLst/>
      </c:spPr>
    </c:plotArea>
    <c:plotVisOnly val="1"/>
    <c:dispBlanksAs val="span"/>
  </c:chart>
  <c:spPr>
    <a:solidFill>
      <a:srgbClr val="0B1F3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 (%)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5C7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1443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1st Class</c:v>
                  </c:pt>
                  <c:pt idx="1">
                    <c:v>2nd Class</c:v>
                  </c:pt>
                  <c:pt idx="2">
                    <c:v>3rd Class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</c:v>
                </c:pt>
                <c:pt idx="1">
                  <c:v>47.3</c:v>
                </c:pt>
                <c:pt idx="2">
                  <c:v>24.2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1st Class</c:v>
                  </c:pt>
                  <c:pt idx="1">
                    <c:v>2nd Class</c:v>
                  </c:pt>
                  <c:pt idx="2">
                    <c:v>3rd Class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96.8</c:v>
                </c:pt>
                <c:pt idx="1">
                  <c:v>92.1</c:v>
                </c:pt>
                <c:pt idx="2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1st Class</c:v>
                  </c:pt>
                  <c:pt idx="1">
                    <c:v>2nd Class</c:v>
                  </c:pt>
                  <c:pt idx="2">
                    <c:v>3rd Class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36.9</c:v>
                </c:pt>
                <c:pt idx="1">
                  <c:v>15.7</c:v>
                </c:pt>
                <c:pt idx="2">
                  <c:v>13.5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 (%)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Child
(0-12)</c:v>
                  </c:pt>
                  <c:pt idx="1">
                    <c:v>Teen
(13-18)</c:v>
                  </c:pt>
                  <c:pt idx="2">
                    <c:v>Adult
(19-35)</c:v>
                  </c:pt>
                  <c:pt idx="3">
                    <c:v>Mid-age
(36-60)</c:v>
                  </c:pt>
                  <c:pt idx="4">
                    <c:v>Senior
(60+)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42.9</c:v>
                </c:pt>
                <c:pt idx="2">
                  <c:v>38.3</c:v>
                </c:pt>
                <c:pt idx="3">
                  <c:v>40</c:v>
                </c:pt>
                <c:pt idx="4">
                  <c:v>22.7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206240" cy="4206240"/>
          </a:xfrm>
          <a:prstGeom prst="ellipse">
            <a:avLst/>
          </a:prstGeom>
          <a:solidFill>
            <a:srgbClr val="3E5C7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457200"/>
            <a:ext cx="2743200" cy="2743200"/>
          </a:xfrm>
          <a:prstGeom prst="ellipse">
            <a:avLst/>
          </a:prstGeom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ln w="15875">
            <a:solidFill>
              <a:srgbClr val="3E5C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TITANIC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Who Survived — and Why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14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analyzed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4114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survival rate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943600" y="4114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1912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maiden voyage dataset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·  Prepared from passenger manifest records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manifest records from the Titanic's 1912 voyage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93A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passengers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93A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fields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93A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504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classes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93A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77824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of embarkation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captured per passenger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  —  0 = No, 1 = Yes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Pclass  —  ticket class (1st–3rd)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&amp; 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SibSp / Parch  —  siblings, spouses, parents, children aboard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0" y="37033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 —  ticket price paid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 —  cabin number (69% missing)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Embarked  —  C / Q / S port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&amp; Name identifiers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AEEF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note:  </a:t>
            </a:r>
            <a:pPr indent="0" marL="0">
              <a:buNone/>
            </a:pPr>
            <a:r>
              <a:rPr lang="en-US" sz="11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missing for 177 passengers (20%) and Cabin for 687 (77%). Analysis below uses the 714 records with known age where relevant, and full 891 elsewhere.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 Behind the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result: passengers grouped by survival outcome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RESULT  ·  pd.read_sql(query, conn)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51206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not survive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66744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EAEEF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758184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table:  </a:t>
            </a:r>
            <a:pPr indent="0" marL="0">
              <a:buNone/>
            </a:pP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549 of 891 passengers (61.6%) did not survive, and 342 (38.4%) did — the split behind the donut chart on the next slide.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Made It Off the Ship?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891 passengers aboard, fewer than 4 in 10 survived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880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38.4%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3429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169164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/>
        </p:spPr>
      </p:sp>
      <p:sp>
        <p:nvSpPr>
          <p:cNvPr id="8" name="Text 5"/>
          <p:cNvSpPr/>
          <p:nvPr/>
        </p:nvSpPr>
        <p:spPr>
          <a:xfrm>
            <a:off x="6355080" y="1691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863840" y="16916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survived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27432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27432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549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863840" y="2743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were lost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26480" y="379476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37947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577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863840" y="37947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aboard, 577 (65%) of all passengers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26480" y="484632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/>
        </p:spPr>
      </p:sp>
      <p:sp>
        <p:nvSpPr>
          <p:cNvPr id="17" name="Text 14"/>
          <p:cNvSpPr/>
          <p:nvPr/>
        </p:nvSpPr>
        <p:spPr>
          <a:xfrm>
            <a:off x="6355080" y="48463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63840" y="4846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aboard, 314 (35%) of all passengers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 Behind the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result: passengers grouped by Sex, with survival rate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RESULT  ·  pd.read_sql(query, conn)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9144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468880"/>
                <a:gridCol w="201168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TotalPassengers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SurvivalRatePct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74.203822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577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18.890815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66744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EAEEF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758184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table:  </a:t>
            </a:r>
            <a:pPr indent="0" marL="0">
              <a:buNone/>
            </a:pP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SurvivalRatePct = AVG(CAST(Survived AS FLOAT)) * 100 per Sex — 74.2% of women and 18.9% of men survived.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“Women and Children First” — Confirmed by 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by gender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8308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132A4C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920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74.2%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955280" y="2606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women survived — 233 of 314 aboard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0" y="388620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132A4C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4023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FC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18.9%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955280" y="4709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men survived — 109 of 577 aboard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 Behind the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result: passengers grouped by Pclass, with survival rate and average fare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RESULT  ·  pd.read_sql(query, conn)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9144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265176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TotalPassengers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SurvivalRatePct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AvgFare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62.962963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84.154688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47.282609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20.662183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491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24.236253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13.675550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50792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EAEEF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1422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table:  </a:t>
            </a:r>
            <a:pPr indent="0" marL="0">
              <a:buNone/>
            </a:pP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falls and average fare drops together as class number rises — 1st class paid ~6x what 3rd class paid, and survived more than twice as often.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Mattered: Survival by Ticket Class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passengers were more than twice as likely to survive as third-class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fare paid, by class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589520" y="210312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93A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0" y="2103120"/>
            <a:ext cx="109728" cy="1005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Class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 passengers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784080" y="2103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$84.15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589520" y="333756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93A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89520" y="3337560"/>
            <a:ext cx="109728" cy="1005840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Class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0" y="3904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 passengers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784080" y="33375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$20.66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589520" y="457200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93A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89520" y="4572000"/>
            <a:ext cx="109728" cy="1005840"/>
          </a:xfrm>
          <a:prstGeom prst="rect">
            <a:avLst/>
          </a:prstGeom>
          <a:solidFill>
            <a:srgbClr val="C1443C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4663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Class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863840" y="5138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491 passengers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784080" y="4572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$13.68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 Behind the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result: passengers grouped by Pclass and Sex, with survival rate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RESULT  ·  pd.read_sql(query, conn)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9144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83464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TotalPassengers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SurvivalRatePct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96.808511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36.885246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92.105263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15.740741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13.544669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202936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EAEEF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294376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table:  </a:t>
            </a:r>
            <a:pPr indent="0" marL="0">
              <a:buNone/>
            </a:pP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Pclass, Sex reveals the widest gap in the dataset: 96.8% of 1st-class women survived vs. 13.5% of 3rd-class men.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and Gender Combined: The Extremes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by passenger class and gender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8595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9326880" y="173736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4F5F7"/>
          </a:solidFill>
          <a:ln/>
        </p:spPr>
      </p:sp>
      <p:sp>
        <p:nvSpPr>
          <p:cNvPr id="6" name="Text 3"/>
          <p:cNvSpPr/>
          <p:nvPr/>
        </p:nvSpPr>
        <p:spPr>
          <a:xfrm>
            <a:off x="94640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464040" y="23774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1st-class women — nearly all survived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326880" y="393192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4F5F7"/>
          </a:solidFill>
          <a:ln/>
        </p:spPr>
      </p:sp>
      <p:sp>
        <p:nvSpPr>
          <p:cNvPr id="9" name="Text 6"/>
          <p:cNvSpPr/>
          <p:nvPr/>
        </p:nvSpPr>
        <p:spPr>
          <a:xfrm>
            <a:off x="9464040" y="4023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13.5%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464040" y="45720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3rd-class men — the lowest survival group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 Behind the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result: passengers grouped by age bracket, with survival rate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RESULT  ·  pd.read_sql(query, conn)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6492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AgeGroup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TotalPassengers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SurvivalRatePct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(0-12)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57.971014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 (13-18)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42.857143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 (19-35)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38.268156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Mid-age (36-60)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(60+)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22.727273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18888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EAEEF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91032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table:  </a:t>
            </a:r>
            <a:pPr indent="0" marL="0">
              <a:buNone/>
            </a:pP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buckets are built with CASE WHEN on Age. Children (58.0%) had the highest survival rate of any bracket; seniors (22.7%) the lowest.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 Behind the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result: passengers grouped by travelling alone vs. with family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RESULT  ·  pd.read_sql(query, conn)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TotalPassengers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SurvivalRatePct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50.564972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30.353818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66744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EAEEF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758184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table:  </a:t>
            </a:r>
            <a:pPr indent="0" marL="0">
              <a:buNone/>
            </a:pP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FamilyStatus is derived from SibSp + Parch = 0. Passengers travelling with at least one family member survived at nearly double the rate of solo travellers.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and Family Size Also Shaped the Odds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fared better than seniors; travelling with a small family beat travelling alone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by age group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96596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 vs. travelling with family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205740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22402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50.6%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949440" y="29260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for passengers travelling with family aboard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397764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DC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4160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5C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30.4%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949440" y="48463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for passengers travelling alone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ln w="15875">
            <a:solidFill>
              <a:srgbClr val="3E5C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3E5C7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was the strongest predictor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63040" y="2139696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survived at 74.2% vs. 18.9% for men — the clearest signal in the data, consistent with a “women and children first” evacuation.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999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926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and wealth compounded the effect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63040" y="331012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1st-class passengers survived at 63% vs. 24% in 3rd class, mirroring average fares of $84 vs. $14 — proximity to lifeboats mattered.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169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0965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extremes tell the sharpest story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63040" y="44805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 of 1st-class women survived, versus 13.5% of 3rd-class men — nearly an 83-point gap driven by class and gender together.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53400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526694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family size mattered at the margins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463040" y="565099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(58%) outsurvived seniors (23%), and small-family travellers (51%) outsurvived solo passengers (30%).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Look at the Raw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df.head() — the first 5 rows of the passenger manifest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 OUTPUT  ·  df.head()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57200" y="2100000"/>
          <a:ext cx="9400000" cy="2070000"/>
        </p:xfrm>
        <a:graphic>
          <a:graphicData uri="http://schemas.openxmlformats.org/drawingml/2006/table">
            <a:tbl>
              <a:tblPr/>
              <a:tblGrid>
                <a:gridCol w="1100000"/>
                <a:gridCol w="850000"/>
                <a:gridCol w="700000"/>
                <a:gridCol w="3500000"/>
                <a:gridCol w="750000"/>
                <a:gridCol w="700000"/>
                <a:gridCol w="850000"/>
                <a:gridCol w="950000"/>
              </a:tblGrid>
              <a:tr h="3700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Embarked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Braund, Mr. Owen Harris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7.25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Cumings, Mrs. John Bradley (Florence Briggs Th…)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71.28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Heikkinen, Miss. Laina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7.93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Futrelle, Mrs. Jacques Heath (Lily May Peel)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53.10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Allen, Mr. William Henry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8.05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360000"/>
            <a:ext cx="11247120" cy="650000"/>
          </a:xfrm>
          <a:prstGeom prst="roundRect">
            <a:avLst>
              <a:gd name="adj" fmla="val 7059"/>
            </a:avLst>
          </a:prstGeom>
          <a:solidFill>
            <a:srgbClr val="EAEEF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360000"/>
            <a:ext cx="10789920" cy="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table:  </a:t>
            </a: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raw CSV as loaded — mixed types (text names, categorical sex/embarked, numeric fares) before any cleaning or aggregation.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Look at the Raw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df.tail() — the final 5 rows of the passenger manifest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 OUTPUT  ·  df.tail()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57200" y="2100000"/>
          <a:ext cx="9400000" cy="2070000"/>
        </p:xfrm>
        <a:graphic>
          <a:graphicData uri="http://schemas.openxmlformats.org/drawingml/2006/table">
            <a:tbl>
              <a:tblPr/>
              <a:tblGrid>
                <a:gridCol w="1100000"/>
                <a:gridCol w="850000"/>
                <a:gridCol w="700000"/>
                <a:gridCol w="3500000"/>
                <a:gridCol w="750000"/>
                <a:gridCol w="700000"/>
                <a:gridCol w="850000"/>
                <a:gridCol w="950000"/>
              </a:tblGrid>
              <a:tr h="3700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Embarked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887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Montvila, Rev. Juozas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888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Graham, Miss. Margaret Edith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889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Johnston, Miss. Catherine Helen “Carrie”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23.45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890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Behr, Mr. Karl Howell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891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Dooley, Mr. Patrick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7.75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360000"/>
            <a:ext cx="11247120" cy="650000"/>
          </a:xfrm>
          <a:prstGeom prst="roundRect">
            <a:avLst>
              <a:gd name="adj" fmla="val 7059"/>
            </a:avLst>
          </a:prstGeom>
          <a:solidFill>
            <a:srgbClr val="EAEEF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360000"/>
            <a:ext cx="10789920" cy="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table:  </a:t>
            </a: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889 shows a missing Age (NaN) — one of the 177 gaps flagged in the data-quality note two slides back.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df.describe() — summary statistics across all 891 passengers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 OUTPUT  ·  df.describe()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57200" y="2100000"/>
          <a:ext cx="9600000" cy="3160000"/>
        </p:xfrm>
        <a:graphic>
          <a:graphicData uri="http://schemas.openxmlformats.org/drawingml/2006/table">
            <a:tbl>
              <a:tblPr/>
              <a:tblGrid>
                <a:gridCol w="1500000"/>
                <a:gridCol w="1450000"/>
                <a:gridCol w="1300000"/>
                <a:gridCol w="1300000"/>
                <a:gridCol w="1200000"/>
                <a:gridCol w="1550000"/>
                <a:gridCol w="1300000"/>
              </a:tblGrid>
              <a:tr h="30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Embarked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891.000000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891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891.000000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891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891.000000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889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577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446.000000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2.308642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32.204208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257.353842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0.836071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49.693429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223.500000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7.910400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446.000000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14.454200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668.500000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891.000000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512.329224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420000"/>
            <a:ext cx="11247120" cy="560000"/>
          </a:xfrm>
          <a:prstGeom prst="roundRect">
            <a:avLst>
              <a:gd name="adj" fmla="val 7059"/>
            </a:avLst>
          </a:prstGeom>
          <a:solidFill>
            <a:srgbClr val="EAEEF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420000"/>
            <a:ext cx="1078992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table:  </a:t>
            </a:r>
            <a:r>
              <a:rPr lang="en-US" sz="12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fare was $32.20, but a max of $512.33 and std of $49.69 show heavy right-skew — a handful of passengers paid far more than most.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Passenger Data · n = 891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2026-08-26T01:20:28Z</dcterms:created>
  <dcterms:modified xsi:type="dcterms:W3CDTF">2026-08-26T01:20:28Z</dcterms:modified>
</cp:coreProperties>
</file>